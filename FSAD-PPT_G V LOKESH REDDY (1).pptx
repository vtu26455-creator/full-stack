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38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02-0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</a:t>
            </a:r>
            <a:r>
              <a:rPr lang="en-IN" sz="3200" b="1" dirty="0">
                <a:latin typeface="Cambria"/>
                <a:cs typeface="Cambria"/>
              </a:rPr>
              <a:t>9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lang="en-IN" sz="3200" b="1" spc="-30" dirty="0">
                <a:latin typeface="Cambria"/>
                <a:cs typeface="Cambria"/>
              </a:rPr>
              <a:t>Innovation and Infrastructure</a:t>
            </a:r>
            <a:r>
              <a:rPr sz="3200" b="1" spc="-10" dirty="0">
                <a:latin typeface="Cambria"/>
                <a:cs typeface="Cambria"/>
              </a:rPr>
              <a:t>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 V Lokesh Reddy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VTU</a:t>
            </a:r>
            <a:r>
              <a:rPr lang="en-US"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26455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3UECS0964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88794" y="2133346"/>
            <a:ext cx="1492567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62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A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ticketing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system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software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platform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designed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requests,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issues,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tasks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efficiently.</a:t>
            </a:r>
            <a:endParaRPr sz="3200">
              <a:latin typeface="Calibri"/>
              <a:cs typeface="Calibri"/>
            </a:endParaRPr>
          </a:p>
          <a:p>
            <a:pPr marL="12700" marR="6350" indent="-444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It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enables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</a:t>
            </a:r>
            <a:r>
              <a:rPr sz="3200" spc="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submit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through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such</a:t>
            </a:r>
            <a:r>
              <a:rPr sz="3200" spc="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portals,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phone.</a:t>
            </a:r>
            <a:endParaRPr sz="3200">
              <a:latin typeface="Calibri"/>
              <a:cs typeface="Calibri"/>
            </a:endParaRPr>
          </a:p>
          <a:p>
            <a:pPr marL="12700" marR="5080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  <a:tab pos="967740" algn="l"/>
                <a:tab pos="2333625" algn="l"/>
                <a:tab pos="4318000" algn="l"/>
                <a:tab pos="5845175" algn="l"/>
                <a:tab pos="8050530" algn="l"/>
                <a:tab pos="8896350" algn="l"/>
                <a:tab pos="11248390" algn="l"/>
                <a:tab pos="12450445" algn="l"/>
                <a:tab pos="13100050" algn="l"/>
              </a:tabLst>
            </a:pPr>
            <a:r>
              <a:rPr sz="3200" spc="-25" dirty="0">
                <a:latin typeface="Calibri"/>
                <a:cs typeface="Calibri"/>
              </a:rPr>
              <a:t>	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automates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routing,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assignment,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prioritization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based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on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predefined </a:t>
            </a:r>
            <a:r>
              <a:rPr sz="3200" dirty="0">
                <a:latin typeface="Calibri"/>
                <a:cs typeface="Calibri"/>
              </a:rPr>
              <a:t>workflows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rules.</a:t>
            </a:r>
            <a:endParaRPr sz="3200">
              <a:latin typeface="Calibri"/>
              <a:cs typeface="Calibri"/>
            </a:endParaRPr>
          </a:p>
          <a:p>
            <a:pPr marL="12700" marR="8255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  <a:tab pos="1617345" algn="l"/>
                <a:tab pos="2346960" algn="l"/>
                <a:tab pos="4354830" algn="l"/>
                <a:tab pos="6137910" algn="l"/>
                <a:tab pos="7457440" algn="l"/>
                <a:tab pos="8782050" algn="l"/>
                <a:tab pos="9556115" algn="l"/>
                <a:tab pos="11960225" algn="l"/>
                <a:tab pos="12846685" algn="l"/>
                <a:tab pos="13868400" algn="l"/>
              </a:tabLst>
            </a:pPr>
            <a:r>
              <a:rPr sz="3200" spc="-10" dirty="0">
                <a:latin typeface="Calibri"/>
                <a:cs typeface="Calibri"/>
              </a:rPr>
              <a:t>	Agents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collaborate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internally,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update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tickets,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communicate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with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users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within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platform.</a:t>
            </a:r>
            <a:endParaRPr sz="3200">
              <a:latin typeface="Calibri"/>
              <a:cs typeface="Calibri"/>
            </a:endParaRPr>
          </a:p>
          <a:p>
            <a:pPr marL="12700" marR="6985" indent="-444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A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centralized</a:t>
            </a:r>
            <a:r>
              <a:rPr sz="3200" spc="2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database</a:t>
            </a:r>
            <a:r>
              <a:rPr sz="3200" spc="1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stores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1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details,</a:t>
            </a:r>
            <a:r>
              <a:rPr sz="3200" spc="1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1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information,</a:t>
            </a:r>
            <a:r>
              <a:rPr sz="3200" spc="1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communications,</a:t>
            </a:r>
            <a:r>
              <a:rPr sz="3200" spc="1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attachments.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88794" y="7011161"/>
            <a:ext cx="149282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indent="-3257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4010" algn="l"/>
                <a:tab pos="1015365" algn="l"/>
                <a:tab pos="2425065" algn="l"/>
                <a:tab pos="4104640" algn="l"/>
                <a:tab pos="5814695" algn="l"/>
                <a:tab pos="6704965" algn="l"/>
                <a:tab pos="8515350" algn="l"/>
                <a:tab pos="9128125" algn="l"/>
                <a:tab pos="10730230" algn="l"/>
                <a:tab pos="13234035" algn="l"/>
                <a:tab pos="14321155" algn="l"/>
              </a:tabLst>
            </a:pPr>
            <a:r>
              <a:rPr sz="3200" spc="-25" dirty="0">
                <a:latin typeface="Calibri"/>
                <a:cs typeface="Calibri"/>
              </a:rPr>
              <a:t>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provides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analytics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and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reporting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monitor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performance,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track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SLA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88794" y="7498842"/>
            <a:ext cx="14925675" cy="1976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alibri"/>
                <a:cs typeface="Calibri"/>
              </a:rPr>
              <a:t>compliance,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trends.</a:t>
            </a:r>
            <a:endParaRPr sz="3200">
              <a:latin typeface="Calibri"/>
              <a:cs typeface="Calibri"/>
            </a:endParaRPr>
          </a:p>
          <a:p>
            <a:pPr marL="12700" marR="5080" indent="-444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By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streamlining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lifecycle,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resolution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improves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productivity. </a:t>
            </a:r>
            <a:r>
              <a:rPr sz="3200" dirty="0">
                <a:latin typeface="Calibri"/>
                <a:cs typeface="Calibri"/>
              </a:rPr>
              <a:t>Overall,</a:t>
            </a:r>
            <a:r>
              <a:rPr sz="3200" spc="14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14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enhances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1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satisfaction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35" dirty="0">
                <a:latin typeface="Calibri"/>
                <a:cs typeface="Calibri"/>
              </a:rPr>
              <a:t>data-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10" dirty="0">
                <a:latin typeface="Calibri"/>
                <a:cs typeface="Calibri"/>
              </a:rPr>
              <a:t>decision-</a:t>
            </a:r>
            <a:r>
              <a:rPr sz="3200" dirty="0">
                <a:latin typeface="Calibri"/>
                <a:cs typeface="Calibri"/>
              </a:rPr>
              <a:t>making</a:t>
            </a:r>
            <a:r>
              <a:rPr sz="3200" spc="150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for </a:t>
            </a:r>
            <a:r>
              <a:rPr sz="3200" spc="-10" dirty="0">
                <a:latin typeface="Calibri"/>
                <a:cs typeface="Calibri"/>
              </a:rPr>
              <a:t>organizations.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1645666"/>
            <a:ext cx="14926944" cy="5332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	Organizations</a:t>
            </a:r>
            <a:r>
              <a:rPr sz="3200" spc="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</a:t>
            </a:r>
            <a:r>
              <a:rPr sz="3200" spc="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volume</a:t>
            </a:r>
            <a:r>
              <a:rPr sz="3200" spc="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requests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issues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multiple</a:t>
            </a:r>
            <a:r>
              <a:rPr sz="3200" spc="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channels</a:t>
            </a:r>
            <a:r>
              <a:rPr sz="3200" spc="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like </a:t>
            </a: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phone..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management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often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leads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delays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assignment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resolution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Lack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centralized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causes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lost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overlooked..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Inefficient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workflows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increase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workload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support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staff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productivity..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SLA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compliance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priority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handling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difficult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enforce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manually.</a:t>
            </a:r>
            <a:endParaRPr sz="3200">
              <a:latin typeface="Calibri"/>
              <a:cs typeface="Calibri"/>
            </a:endParaRPr>
          </a:p>
          <a:p>
            <a:pPr marL="12700" marR="5080" indent="-5080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	Limited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reporting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make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hard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identify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recurring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performance gaps.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Hence,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Customer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satisfaction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drops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due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slow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responses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poor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com</a:t>
            </a:r>
            <a:endParaRPr sz="3200">
              <a:latin typeface="Calibri"/>
              <a:cs typeface="Calibri"/>
            </a:endParaRPr>
          </a:p>
          <a:p>
            <a:pPr marL="12700" marR="6350" indent="-4445">
              <a:lnSpc>
                <a:spcPts val="3460"/>
              </a:lnSpc>
              <a:spcBef>
                <a:spcPts val="395"/>
              </a:spcBef>
              <a:buSzPct val="96875"/>
              <a:buFont typeface="Wingdings"/>
              <a:buChar char=""/>
              <a:tabLst>
                <a:tab pos="334010" algn="l"/>
                <a:tab pos="1134110" algn="l"/>
                <a:tab pos="2886710" algn="l"/>
                <a:tab pos="4217670" algn="l"/>
                <a:tab pos="5179060" algn="l"/>
                <a:tab pos="7366000" algn="l"/>
                <a:tab pos="9102090" algn="l"/>
                <a:tab pos="10492105" algn="l"/>
                <a:tab pos="11655425" algn="l"/>
                <a:tab pos="12120245" algn="l"/>
                <a:tab pos="13811885" algn="l"/>
                <a:tab pos="14455140" algn="l"/>
              </a:tabLst>
            </a:pPr>
            <a:r>
              <a:rPr sz="3200" spc="-25" dirty="0">
                <a:latin typeface="Calibri"/>
                <a:cs typeface="Calibri"/>
              </a:rPr>
              <a:t>	The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proposed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aims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1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automated,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centralized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ticketing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streamline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full </a:t>
            </a:r>
            <a:r>
              <a:rPr sz="2800" dirty="0">
                <a:latin typeface="Calibri"/>
                <a:cs typeface="Calibri"/>
              </a:rPr>
              <a:t>lifecycle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creation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closure.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288794" y="1645666"/>
            <a:ext cx="14170406" cy="9074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1. Automate Event Management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administrators to create, update, and delete events.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 details in a centralized database.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2. Enable Online Ticket Booking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book tickets through a simple web interface.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ticket availability updates.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3. Prevent Overbooking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ticket validation logic.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deduct tickets after successful booking.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4. Ensure Secure User Access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login and role-based access control.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 admin operations to authorized users.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5. Maintain Booking Records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booking details systematically.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user name, tickets booked, and total amount.</a:t>
            </a: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6. Generate Reports &amp; Analytics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tickets sold.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revenue generation.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event performance.</a:t>
            </a:r>
          </a:p>
          <a:p>
            <a:endParaRPr lang="en-US" sz="2800" dirty="0"/>
          </a:p>
          <a:p>
            <a:pPr marL="3810">
              <a:lnSpc>
                <a:spcPct val="100000"/>
              </a:lnSpc>
              <a:spcBef>
                <a:spcPts val="100"/>
              </a:spcBef>
              <a:buSzPct val="95312"/>
              <a:tabLst>
                <a:tab pos="334010" algn="l"/>
              </a:tabLst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288794" y="1645666"/>
            <a:ext cx="14924405" cy="490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444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	To</a:t>
            </a:r>
            <a:r>
              <a:rPr sz="3200" spc="1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provide</a:t>
            </a:r>
            <a:r>
              <a:rPr sz="3200" spc="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centralized,</a:t>
            </a:r>
            <a:r>
              <a:rPr sz="3200" b="1" spc="1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automated,</a:t>
            </a:r>
            <a:r>
              <a:rPr sz="3200" b="1" spc="1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efficient</a:t>
            </a:r>
            <a:r>
              <a:rPr sz="3200" b="1" spc="1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platform</a:t>
            </a:r>
            <a:r>
              <a:rPr sz="3200" b="1" spc="1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managing</a:t>
            </a:r>
            <a:r>
              <a:rPr sz="3200" spc="1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tickets</a:t>
            </a:r>
            <a:r>
              <a:rPr sz="3200" spc="1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from </a:t>
            </a:r>
            <a:r>
              <a:rPr sz="3200" dirty="0">
                <a:latin typeface="Calibri"/>
                <a:cs typeface="Calibri"/>
              </a:rPr>
              <a:t>creation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closure,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response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time,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tracking,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reporting.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spc="-35" dirty="0">
                <a:latin typeface="Calibri"/>
                <a:cs typeface="Calibri"/>
              </a:rPr>
              <a:t>Data-</a:t>
            </a:r>
            <a:r>
              <a:rPr sz="3200" dirty="0">
                <a:latin typeface="Calibri"/>
                <a:cs typeface="Calibri"/>
              </a:rPr>
              <a:t>driven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insights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improvement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Stores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tickets,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users,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agent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info,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communication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logs,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attachment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Supports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reporting,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analytics,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audit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trails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ntelligent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routing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assignment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agents/teams</a:t>
            </a:r>
            <a:endParaRPr sz="3200">
              <a:latin typeface="Calibri"/>
              <a:cs typeface="Calibri"/>
            </a:endParaRPr>
          </a:p>
          <a:p>
            <a:pPr marL="333375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Calibri"/>
                <a:cs typeface="Calibri"/>
              </a:rPr>
              <a:t>Email,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web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portal,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chat,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phone,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mobile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app.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Capture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user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details,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issue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description,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priority,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attachments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10" dirty="0">
                <a:latin typeface="Calibri"/>
                <a:cs typeface="Calibri"/>
              </a:rPr>
              <a:t>Automation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reduces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manual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effort</a:t>
            </a:r>
            <a:endParaRPr sz="3200">
              <a:latin typeface="Calibri"/>
              <a:cs typeface="Calibri"/>
            </a:endParaRPr>
          </a:p>
          <a:p>
            <a:pPr marL="334010" indent="-325755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Calibri"/>
                <a:cs typeface="Calibri"/>
              </a:rPr>
              <a:t>Scalable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integrable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CRM/ERP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8F24E1C-A36C-A167-B109-DB1A8C92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99" y="1320038"/>
            <a:ext cx="146304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2050" name="Picture 2" descr="Flowchart of ticket lifecycle">
            <a:extLst>
              <a:ext uri="{FF2B5EF4-FFF2-40B4-BE49-F238E27FC236}">
                <a16:creationId xmlns:a16="http://schemas.microsoft.com/office/drawing/2014/main" id="{7E55B3A5-D18E-F3A1-2A74-69DFF0E84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813" y="1264157"/>
            <a:ext cx="11736387" cy="852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xfrm>
            <a:off x="2288794" y="1645666"/>
            <a:ext cx="15020798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 algn="just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CSS,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b="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b="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design).</a:t>
            </a:r>
          </a:p>
          <a:p>
            <a:pPr marL="12700" marR="5080" indent="-5080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Backend: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</a:t>
            </a:r>
            <a:r>
              <a:rPr b="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to-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ticketing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processing,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management,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integrations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processing.</a:t>
            </a:r>
          </a:p>
          <a:p>
            <a:pPr marL="334010" indent="-32575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12700" marR="46355" algn="just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tickets,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workflows,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communications,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  <a:r>
              <a:rPr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Eclipse</a:t>
            </a:r>
            <a:r>
              <a:rPr b="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IDE,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Tomcat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Server,</a:t>
            </a:r>
            <a:r>
              <a:rPr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b="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b="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control.</a:t>
            </a:r>
          </a:p>
          <a:p>
            <a:pPr marL="334010" indent="-325755" algn="just">
              <a:lnSpc>
                <a:spcPct val="1000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marL="12700" marR="2292350" algn="just">
              <a:lnSpc>
                <a:spcPct val="100000"/>
              </a:lnSpc>
            </a:pP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b="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4GB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</a:t>
            </a:r>
            <a:r>
              <a:rPr b="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Processor,</a:t>
            </a:r>
            <a:r>
              <a:rPr b="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Windows/Linux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OS,</a:t>
            </a:r>
            <a:r>
              <a:rPr b="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b="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(Chrome/Edge/Firefox),</a:t>
            </a:r>
            <a:r>
              <a:rPr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b="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</a:t>
            </a:r>
            <a:r>
              <a:rPr b="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88794" y="1645666"/>
            <a:ext cx="14246606" cy="85741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Module 1: User Management Module</a:t>
            </a:r>
          </a:p>
          <a:p>
            <a:pPr marL="334010" indent="-325755" algn="just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Management Module is responsible for handling user registration, authentication, and role-based access control (Admin/User). It ensures that only authorized users can perform specific actions within the system.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🎟️ Module 2: Ticket Management &amp; Workflow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Ticket Management &amp; Workflow Module is responsible for handling the complete ticket booking lifecycle. It manages ticket availability, validates booking requests, processes workflow steps, and updates the system dynamically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📚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Resolution &amp; Knowledge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&amp; Knowledge Module ensures that booking issues are handled efficiently and helps reduce repeated errors by providing proper feedback, validation, and user guidance. It improves system reliability and user experience.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Module 4: Reporting &amp; Analytics Module – Evaluation</a:t>
            </a:r>
          </a:p>
          <a:p>
            <a:pPr marL="334010" indent="-325755" algn="just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Reporting &amp; Analytics Module is responsible for measuring system performance and generating insights related to events, ticket sales, and revenue. It helps administrators monitor booking trends and evaluate event success.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endParaRPr lang="en-US" sz="2800" b="1" dirty="0"/>
          </a:p>
          <a:p>
            <a:pPr marL="8255">
              <a:spcBef>
                <a:spcPts val="100"/>
              </a:spcBef>
              <a:buSzPct val="96875"/>
              <a:tabLst>
                <a:tab pos="334010" algn="l"/>
              </a:tabLst>
            </a:pPr>
            <a:endParaRPr lang="en-US" sz="3200" b="1" dirty="0"/>
          </a:p>
          <a:p>
            <a:pPr marL="334010" indent="-325755">
              <a:lnSpc>
                <a:spcPct val="1000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7394" y="7742681"/>
            <a:ext cx="1420241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30886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Information.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8EFC316-8E47-9AA6-6696-6C04FEF7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348" y="1905635"/>
            <a:ext cx="11106150" cy="5219065"/>
          </a:xfrm>
          <a:prstGeom prst="rect">
            <a:avLst/>
          </a:prstGeom>
        </p:spPr>
      </p:pic>
      <p:sp>
        <p:nvSpPr>
          <p:cNvPr id="22" name="AutoShape 8">
            <a:extLst>
              <a:ext uri="{FF2B5EF4-FFF2-40B4-BE49-F238E27FC236}">
                <a16:creationId xmlns:a16="http://schemas.microsoft.com/office/drawing/2014/main" id="{4F3FEE2E-FBB1-4FA8-5674-2D462752B7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742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6630" marR="5080">
              <a:lnSpc>
                <a:spcPct val="100000"/>
              </a:lnSpc>
              <a:spcBef>
                <a:spcPts val="85"/>
              </a:spcBef>
              <a:tabLst>
                <a:tab pos="1198435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sz="2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booking.Each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seats,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duration,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9809283-87C6-357D-BE19-796B339A1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562101"/>
            <a:ext cx="9067799" cy="5448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898906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organizer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dashroad.and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defauls</a:t>
            </a:r>
            <a:r>
              <a:rPr sz="3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</a:t>
            </a:r>
            <a:r>
              <a:rPr sz="3200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submitting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2664A3-31EB-DD9E-A77D-54E659E8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9" y="1638300"/>
            <a:ext cx="12316651" cy="52190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212594" y="8047481"/>
            <a:ext cx="1356741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811530" algn="l"/>
              </a:tabLst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page</a:t>
            </a:r>
            <a:r>
              <a:rPr sz="32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portal,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summary,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z="32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145A516-E943-E174-F118-7BC42B3C0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2324100"/>
            <a:ext cx="10058995" cy="56491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3203194" y="1964182"/>
            <a:ext cx="12969240" cy="293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indent="-325755">
              <a:lnSpc>
                <a:spcPts val="3800"/>
              </a:lnSpc>
              <a:spcBef>
                <a:spcPts val="100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375" indent="-325755">
              <a:lnSpc>
                <a:spcPts val="3800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(email,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phone,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web)..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ct val="100000"/>
              </a:lnSpc>
              <a:spcBef>
                <a:spcPts val="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3200" b="1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sz="3200" b="1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tickets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immediately.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00"/>
              </a:lnSpc>
              <a:spcBef>
                <a:spcPts val="8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32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chances</a:t>
            </a:r>
            <a:r>
              <a:rPr sz="32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sz="3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leakage.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785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urgent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29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sz="3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intervention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03194" y="5866257"/>
            <a:ext cx="10550525" cy="2462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indent="-325755">
              <a:lnSpc>
                <a:spcPts val="3800"/>
              </a:lnSpc>
              <a:spcBef>
                <a:spcPts val="105"/>
              </a:spcBef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785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3375" indent="-325755">
              <a:lnSpc>
                <a:spcPts val="3829"/>
              </a:lnSpc>
              <a:buSzPct val="96875"/>
              <a:buFont typeface="Wingdings"/>
              <a:buChar char=""/>
              <a:tabLst>
                <a:tab pos="333375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</a:t>
            </a:r>
            <a:r>
              <a:rPr sz="32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3800"/>
              </a:lnSpc>
              <a:spcBef>
                <a:spcPts val="110"/>
              </a:spcBef>
            </a:pP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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implementation.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4010" indent="-325755">
              <a:lnSpc>
                <a:spcPts val="3800"/>
              </a:lnSpc>
              <a:buSzPct val="96875"/>
              <a:buFont typeface="Wingdings"/>
              <a:buChar char=""/>
              <a:tabLst>
                <a:tab pos="334010" algn="l"/>
              </a:tabLst>
            </a:pPr>
            <a:r>
              <a:rPr sz="3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Enterprise-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3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ServiceNow</a:t>
            </a:r>
            <a:r>
              <a:rPr sz="3200" b="1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1258</Words>
  <Application>Microsoft Office PowerPoint</Application>
  <PresentationFormat>Custom</PresentationFormat>
  <Paragraphs>264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Cambria</vt:lpstr>
      <vt:lpstr>Tahoma</vt:lpstr>
      <vt:lpstr>Times New Roman</vt:lpstr>
      <vt:lpstr>Wingdings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mahesh mahesh</dc:creator>
  <cp:lastModifiedBy>mahesh mahesh</cp:lastModifiedBy>
  <cp:revision>13</cp:revision>
  <dcterms:created xsi:type="dcterms:W3CDTF">2026-03-02T03:28:12Z</dcterms:created>
  <dcterms:modified xsi:type="dcterms:W3CDTF">2026-03-26T04:47:07Z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